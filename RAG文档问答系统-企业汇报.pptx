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RAG文档问答系统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400">
                <a:solidFill>
                  <a:srgbClr val="666666"/>
                </a:solidFill>
              </a:defRPr>
            </a:pPr>
            <a:r>
              <a:t>企业汇报演示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项目概述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 b="1">
                <a:solidFill>
                  <a:srgbClr val="003366"/>
                </a:solidFill>
              </a:defRPr>
            </a:pPr>
            <a:r>
              <a:t>项目背景</a:t>
            </a:r>
          </a:p>
          <a:p>
            <a:pPr/>
            <a:r>
              <a:t>• 基于检索增强生成（RAG）的智能文档问答系统</a:t>
            </a:r>
          </a:p>
          <a:p>
            <a:pPr/>
            <a:r>
              <a:t>• 支持多格式文档处理和企业级应用</a:t>
            </a:r>
          </a:p>
          <a:p>
            <a:pPr/>
            <a:r>
              <a:t>• 现代化技术栈，高可用性架构</a:t>
            </a:r>
          </a:p>
          <a:p>
            <a:pPr>
              <a:defRPr sz="1800" b="1">
                <a:solidFill>
                  <a:srgbClr val="003366"/>
                </a:solidFill>
              </a:defRPr>
            </a:pPr>
            <a:r>
              <a:t>核心价值</a:t>
            </a:r>
          </a:p>
          <a:p>
            <a:pPr/>
            <a:r>
              <a:t>• 提升文档检索效率</a:t>
            </a:r>
          </a:p>
          <a:p>
            <a:pPr/>
            <a:r>
              <a:t>• 智能问答能力</a:t>
            </a:r>
          </a:p>
          <a:p>
            <a:pPr/>
            <a:r>
              <a:t>• 自动化文档管理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功能特性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 b="1">
                <a:solidFill>
                  <a:srgbClr val="003366"/>
                </a:solidFill>
              </a:defRPr>
            </a:pPr>
            <a:r>
              <a:t>核心功能模块</a:t>
            </a:r>
          </a:p>
          <a:p>
            <a:pPr/>
            <a:r>
              <a:t>✅ 多格式文档支持: PDF、DOCX、DOC、TXT</a:t>
            </a:r>
          </a:p>
          <a:p>
            <a:pPr/>
            <a:r>
              <a:t>✅ 智能问答: 基于向量搜索的精准问答</a:t>
            </a:r>
          </a:p>
          <a:p>
            <a:pPr/>
            <a:r>
              <a:t>✅ 自动索引: 文件监听自动触发文档索引</a:t>
            </a:r>
          </a:p>
          <a:p>
            <a:pPr/>
            <a:r>
              <a:t>✅ 现代化界面: React + Tailwind CSS 前端</a:t>
            </a:r>
          </a:p>
          <a:p>
            <a:pPr/>
            <a:r>
              <a:t>✅ RESTful API: 完整的后端API接口</a:t>
            </a:r>
          </a:p>
          <a:p>
            <a:pPr/>
            <a:r>
              <a:t>✅ 向量数据库: Pinecone 向量存储和搜索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技术架构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 b="1">
                <a:solidFill>
                  <a:srgbClr val="003366"/>
                </a:solidFill>
              </a:defRPr>
            </a:pPr>
            <a:r>
              <a:t>后端技术栈</a:t>
            </a:r>
          </a:p>
          <a:p>
            <a:pPr/>
            <a:r>
              <a:t>• Node.js + Express: Web服务器框架</a:t>
            </a:r>
          </a:p>
          <a:p>
            <a:pPr/>
            <a:r>
              <a:t>• PostgreSQL: 关系型数据库</a:t>
            </a:r>
          </a:p>
          <a:p>
            <a:pPr/>
            <a:r>
              <a:t>• Pinecone: 向量数据库</a:t>
            </a:r>
          </a:p>
          <a:p>
            <a:pPr/>
            <a:r>
              <a:t>• Sequelize: ORM数据库操作</a:t>
            </a:r>
          </a:p>
          <a:p>
            <a:pPr/>
            <a:r>
              <a:t>• OpenAI/Gemini: 大语言模型集成</a:t>
            </a:r>
          </a:p>
          <a:p>
            <a:pPr>
              <a:defRPr sz="1600" b="1">
                <a:solidFill>
                  <a:srgbClr val="003366"/>
                </a:solidFill>
              </a:defRPr>
            </a:pPr>
            <a:r>
              <a:t>前端技术栈</a:t>
            </a:r>
          </a:p>
          <a:p>
            <a:pPr/>
            <a:r>
              <a:t>• React 18: 用户界面框架</a:t>
            </a:r>
          </a:p>
          <a:p>
            <a:pPr/>
            <a:r>
              <a:t>• Vite: 构建工具</a:t>
            </a:r>
          </a:p>
          <a:p>
            <a:pPr/>
            <a:r>
              <a:t>• Tailwind CSS: 样式框架</a:t>
            </a:r>
          </a:p>
          <a:p>
            <a:pPr/>
            <a:r>
              <a:t>• Axios: HTTP客户端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AI服务整合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 b="1">
                <a:solidFill>
                  <a:srgbClr val="003366"/>
                </a:solidFill>
              </a:defRPr>
            </a:pPr>
            <a:r>
              <a:t>统一问答接口</a:t>
            </a:r>
          </a:p>
          <a:p>
            <a:pPr/>
            <a:r>
              <a:t>• 接口地址: localhost:3001/api/qa/ask</a:t>
            </a:r>
          </a:p>
          <a:p>
            <a:pPr/>
            <a:r>
              <a:t>• 搜索类型: semantic/keyword/hybrid</a:t>
            </a:r>
          </a:p>
          <a:p>
            <a:pPr/>
            <a:r>
              <a:t>• 智能路由: 自动选择最佳处理方式</a:t>
            </a:r>
          </a:p>
          <a:p>
            <a:pPr>
              <a:defRPr sz="1600" b="1">
                <a:solidFill>
                  <a:srgbClr val="003366"/>
                </a:solidFill>
              </a:defRPr>
            </a:pPr>
            <a:r>
              <a:t>集成的大模型服务</a:t>
            </a:r>
          </a:p>
          <a:p>
            <a:pPr/>
            <a:r>
              <a:t>• DeepSeek: 最高优先级，OpenAI兼容接口</a:t>
            </a:r>
          </a:p>
          <a:p>
            <a:pPr/>
            <a:r>
              <a:t>• OpenAI GPT: 第二优先级，GPT-3.5-turbo</a:t>
            </a:r>
          </a:p>
          <a:p>
            <a:pPr/>
            <a:r>
              <a:t>• Google Gemini: 第三优先级，gemini-pro模型</a:t>
            </a:r>
          </a:p>
          <a:p>
            <a:pPr/>
            <a:r>
              <a:t>• Copilot: 独立服务，支持回退机制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当前系统状态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 b="1">
                <a:solidFill>
                  <a:srgbClr val="003366"/>
                </a:solidFill>
              </a:defRPr>
            </a:pPr>
            <a:r>
              <a:t>运行状态</a:t>
            </a:r>
          </a:p>
          <a:p>
            <a:pPr/>
            <a:r>
              <a:t>✅ 后端服务器: 正常运行在 http://localhost:3001</a:t>
            </a:r>
          </a:p>
          <a:p>
            <a:pPr/>
            <a:r>
              <a:t>✅ 前端界面: 正常运行在 http://localhost:3000</a:t>
            </a:r>
          </a:p>
          <a:p>
            <a:pPr/>
            <a:r>
              <a:t>✅ 文件监听: 已激活，监控 /docs 目录</a:t>
            </a:r>
          </a:p>
          <a:p>
            <a:pPr/>
            <a:r>
              <a:t>✅ Pinecone: 已连接并配置完成</a:t>
            </a:r>
          </a:p>
          <a:p>
            <a:pPr/>
            <a:r>
              <a:t>✅ 问答功能: 现在使用向量搜索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技术实现亮点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 b="1">
                <a:solidFill>
                  <a:srgbClr val="003366"/>
                </a:solidFill>
              </a:defRPr>
            </a:pPr>
            <a:r>
              <a:t>智能路由机制</a:t>
            </a:r>
          </a:p>
          <a:p>
            <a:pPr/>
            <a:r>
              <a:t>• 优先级调用链: NLP → 向量搜索 → 关键词搜索 → AI生成</a:t>
            </a:r>
          </a:p>
          <a:p>
            <a:pPr/>
            <a:r>
              <a:t>• 服务回退机制: Copilot → DeepSeek → OpenAI → Google Gemini</a:t>
            </a:r>
          </a:p>
          <a:p>
            <a:pPr/>
            <a:r>
              <a:t>• 错误处理: 完整的降级策略和容错机制</a:t>
            </a:r>
          </a:p>
          <a:p>
            <a:pPr>
              <a:defRPr sz="1600" b="1">
                <a:solidFill>
                  <a:srgbClr val="003366"/>
                </a:solidFill>
              </a:defRPr>
            </a:pPr>
            <a:r>
              <a:t>性能优化</a:t>
            </a:r>
          </a:p>
          <a:p>
            <a:pPr/>
            <a:r>
              <a:t>• 向量搜索优化</a:t>
            </a:r>
          </a:p>
          <a:p>
            <a:pPr/>
            <a:r>
              <a:t>• 缓存机制</a:t>
            </a:r>
          </a:p>
          <a:p>
            <a:pPr/>
            <a:r>
              <a:t>• 异步处理</a:t>
            </a:r>
          </a:p>
          <a:p>
            <a:pPr/>
            <a:r>
              <a:t>• 负载均衡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项目成果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 b="1">
                <a:solidFill>
                  <a:srgbClr val="003366"/>
                </a:solidFill>
              </a:defRPr>
            </a:pPr>
            <a:r>
              <a:t>技术成果</a:t>
            </a:r>
          </a:p>
          <a:p>
            <a:pPr/>
            <a:r>
              <a:t>• 完整的RAG系统实现</a:t>
            </a:r>
          </a:p>
          <a:p>
            <a:pPr/>
            <a:r>
              <a:t>• 多AI模型集成</a:t>
            </a:r>
          </a:p>
          <a:p>
            <a:pPr/>
            <a:r>
              <a:t>• 企业级架构设计</a:t>
            </a:r>
          </a:p>
          <a:p>
            <a:pPr/>
            <a:r>
              <a:t>• 高性能向量搜索</a:t>
            </a:r>
          </a:p>
          <a:p>
            <a:pPr>
              <a:defRPr sz="1600" b="1">
                <a:solidFill>
                  <a:srgbClr val="003366"/>
                </a:solidFill>
              </a:defRPr>
            </a:pPr>
            <a:r>
              <a:t>业务价值</a:t>
            </a:r>
          </a:p>
          <a:p>
            <a:pPr/>
            <a:r>
              <a:t>• 提升文档处理效率</a:t>
            </a:r>
          </a:p>
          <a:p>
            <a:pPr/>
            <a:r>
              <a:t>• 降低人工检索成本</a:t>
            </a:r>
          </a:p>
          <a:p>
            <a:pPr/>
            <a:r>
              <a:t>• 增强知识管理能力</a:t>
            </a:r>
          </a:p>
          <a:p>
            <a:pPr/>
            <a:r>
              <a:t>• 支持智能决策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总结与展望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 b="1">
                <a:solidFill>
                  <a:srgbClr val="003366"/>
                </a:solidFill>
              </a:defRPr>
            </a:pPr>
            <a:r>
              <a:t>项目总结</a:t>
            </a:r>
          </a:p>
          <a:p>
            <a:pPr/>
            <a:r>
              <a:t>• 成功实现RAG文档问答系统</a:t>
            </a:r>
          </a:p>
          <a:p>
            <a:pPr/>
            <a:r>
              <a:t>• 技术栈先进，架构合理</a:t>
            </a:r>
          </a:p>
          <a:p>
            <a:pPr/>
            <a:r>
              <a:t>• 功能完整，性能优异</a:t>
            </a:r>
          </a:p>
          <a:p>
            <a:pPr/>
            <a:r>
              <a:t>• 具备企业级应用能力</a:t>
            </a:r>
          </a:p>
          <a:p>
            <a:pPr>
              <a:defRPr sz="1600" b="1">
                <a:solidFill>
                  <a:srgbClr val="003366"/>
                </a:solidFill>
              </a:defRPr>
            </a:pPr>
            <a:r>
              <a:t>未来规划</a:t>
            </a:r>
          </a:p>
          <a:p>
            <a:pPr/>
            <a:r>
              <a:t>• 持续优化AI模型集成</a:t>
            </a:r>
          </a:p>
          <a:p>
            <a:pPr/>
            <a:r>
              <a:t>• 扩展更多文档格式支持</a:t>
            </a:r>
          </a:p>
          <a:p>
            <a:pPr/>
            <a:r>
              <a:t>• 增强企业级安全特性</a:t>
            </a:r>
          </a:p>
          <a:p>
            <a:pPr/>
            <a:r>
              <a:t>• 探索更多应用场景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828800" y="2743200"/>
            <a:ext cx="5486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03366"/>
                </a:solidFill>
              </a:defRPr>
            </a:pPr>
            <a:r>
              <a:t>感谢观看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